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99"/>
    <a:srgbClr val="8ECFC9"/>
    <a:srgbClr val="996600"/>
    <a:srgbClr val="996633"/>
    <a:srgbClr val="E7DAD2"/>
    <a:srgbClr val="82B0D2"/>
    <a:srgbClr val="FA7F6F"/>
    <a:srgbClr val="FFB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C5F8-D9A9-7F47-3446-89D4E0E3B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0AE63-B505-6B83-F232-CDD96CBD8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DE0C6-2227-3DF2-C7C0-8D6DF5FC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969B1-0808-A328-00F9-CB50CD4B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D03ED-182D-D384-11D7-A3492F46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42B6-B243-5C9D-E714-97F394E8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62C4D-6DD1-3FBF-D132-237EE17D4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A017-75D5-3200-773B-E61B05CBA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60938-17E7-2FE1-ABC3-F86D0228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DD942-B51F-1468-F15D-E58FEB94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669E-B3DC-50D1-8FE6-7422D72D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D9CC4-CFF6-F332-1E15-5A0AE382C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BABDD-C264-1DBB-9112-5478A44B8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67A3C-5330-F721-828D-970E8B6B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0D73F-7A8A-6B0A-EAFC-DD33CD11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9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F99B-0A21-4ED1-B760-34EB9367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FB85-63B9-3755-1AFB-7F2FC55AE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4002A-24AD-FB87-84DF-9EDD3410D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B2E58-E4A1-9813-FF80-425AF41F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6D13E-8AEF-9891-DB5B-00008D17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4D3EB-5360-A134-C662-EC19D8B1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1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FC52F-BC57-BFA5-CD7F-6D65F806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E4E84-5633-C273-73F5-9BC60DDBC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99BF7-EE2B-90DC-97CF-312DCE4A4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9D8DC-15D1-980C-BA86-66E063823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8B54E-DA77-5F5B-383A-5A2018323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223CB-4318-9EEC-F791-1C6A1110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45B27-BE33-76F9-16B6-8603932B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DCE160-0065-749F-A399-8559AD6E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7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35FD-0CFB-3749-C479-D7749B90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D51CE-F890-614A-F7CE-C7BACC37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A2E3C-614B-D733-BC1E-072E6A37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E3ADB-83AB-179B-15C7-A4FF881E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5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134808-8511-97AD-559F-BA393A76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60D3D-D190-FD2F-6611-6EF83E55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93EA8-BE82-8556-B664-37E94D7B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4617-B74B-4B44-DFED-32D954519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D07B0-5F53-8CFC-8F0E-D1E3960F1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DA3BE-25A0-CE6F-A36A-932B24F25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6791-D5F7-0EC8-D40A-9FF9F374B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254B8-E57D-74AF-3EA8-DB2FA0C4C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85021-C25A-4B68-5AB4-84C53E59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0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162A-30A4-D950-4F6D-32386460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ABA1A-46AA-08BA-F754-02EB81664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6AFCF-726E-3E77-DB17-B35FA1899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B4230-6180-9C96-07F4-465EEBD8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C6C8E-C627-3C8C-86C9-8D5DFFBB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B959F-2956-1004-DA8C-C38FD071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9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1AA2-EC3A-9659-B0EA-EE738AFD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0564F-D8F8-4E8C-962A-91B149BEA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4685-5FFA-94E9-C834-8571EB2C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DE573-C49B-F0AF-568B-88EE9626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865B-2D31-1C65-BB53-88029DE1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5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B8D5F-B4A4-5DAE-6F9A-06B2C05A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05B69-9357-3745-0BA1-434EE15C5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C3F9F-7F10-982E-595F-98423635D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2EF3D-F52E-9F00-91BD-21E94722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EB049-2826-E781-81AA-EF0CA98F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1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BCECC-043F-6A9C-9814-03517A870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A69E3-2FC7-D906-7A82-459BB41B4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88B31-21F5-40B7-D88A-770B1E6A1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33C5F-D8B3-4C3D-BEB3-558FDB7273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9A3A8-8EEC-E8CA-B88C-31BF9E287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CD91F-7987-8DB1-8344-60AD04395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5BEFC-4014-4E0F-8CC5-ED9BC71F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5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E4F8C6C-9DC5-CE63-9B28-46C16E48DF5D}"/>
              </a:ext>
            </a:extLst>
          </p:cNvPr>
          <p:cNvGrpSpPr/>
          <p:nvPr/>
        </p:nvGrpSpPr>
        <p:grpSpPr>
          <a:xfrm>
            <a:off x="2173277" y="2489874"/>
            <a:ext cx="3092299" cy="3166499"/>
            <a:chOff x="717701" y="539776"/>
            <a:chExt cx="3092299" cy="316649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5FE3B4F-7B47-B959-9AB6-E8783BEF337C}"/>
                </a:ext>
              </a:extLst>
            </p:cNvPr>
            <p:cNvSpPr/>
            <p:nvPr/>
          </p:nvSpPr>
          <p:spPr>
            <a:xfrm>
              <a:off x="774092" y="2311293"/>
              <a:ext cx="2991994" cy="1038044"/>
            </a:xfrm>
            <a:custGeom>
              <a:avLst/>
              <a:gdLst>
                <a:gd name="connsiteX0" fmla="*/ 0 w 12211050"/>
                <a:gd name="connsiteY0" fmla="*/ 304800 h 2905125"/>
                <a:gd name="connsiteX1" fmla="*/ 0 w 12211050"/>
                <a:gd name="connsiteY1" fmla="*/ 2905125 h 2905125"/>
                <a:gd name="connsiteX2" fmla="*/ 12211050 w 12211050"/>
                <a:gd name="connsiteY2" fmla="*/ 2886075 h 2905125"/>
                <a:gd name="connsiteX3" fmla="*/ 12201525 w 12211050"/>
                <a:gd name="connsiteY3" fmla="*/ 28575 h 2905125"/>
                <a:gd name="connsiteX4" fmla="*/ 9591675 w 12211050"/>
                <a:gd name="connsiteY4" fmla="*/ 409575 h 2905125"/>
                <a:gd name="connsiteX5" fmla="*/ 5924550 w 12211050"/>
                <a:gd name="connsiteY5" fmla="*/ 0 h 2905125"/>
                <a:gd name="connsiteX6" fmla="*/ 3248025 w 12211050"/>
                <a:gd name="connsiteY6" fmla="*/ 781050 h 2905125"/>
                <a:gd name="connsiteX7" fmla="*/ 0 w 12211050"/>
                <a:gd name="connsiteY7" fmla="*/ 304800 h 290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11050" h="2905125">
                  <a:moveTo>
                    <a:pt x="0" y="304800"/>
                  </a:moveTo>
                  <a:lnTo>
                    <a:pt x="0" y="2905125"/>
                  </a:lnTo>
                  <a:lnTo>
                    <a:pt x="12211050" y="2886075"/>
                  </a:lnTo>
                  <a:lnTo>
                    <a:pt x="12201525" y="28575"/>
                  </a:lnTo>
                  <a:lnTo>
                    <a:pt x="9591675" y="409575"/>
                  </a:lnTo>
                  <a:lnTo>
                    <a:pt x="5924550" y="0"/>
                  </a:lnTo>
                  <a:lnTo>
                    <a:pt x="3248025" y="78105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996633">
                <a:alpha val="60000"/>
              </a:srgbClr>
            </a:solidFill>
            <a:ln>
              <a:solidFill>
                <a:srgbClr val="9999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45D66B-0F24-DFD8-6842-34A25754AD97}"/>
                </a:ext>
              </a:extLst>
            </p:cNvPr>
            <p:cNvSpPr/>
            <p:nvPr/>
          </p:nvSpPr>
          <p:spPr>
            <a:xfrm>
              <a:off x="769620" y="683022"/>
              <a:ext cx="3040380" cy="952578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hought Bubble: Cloud 4">
              <a:extLst>
                <a:ext uri="{FF2B5EF4-FFF2-40B4-BE49-F238E27FC236}">
                  <a16:creationId xmlns:a16="http://schemas.microsoft.com/office/drawing/2014/main" id="{8F9667F5-FCE1-AC27-9A3D-37D6620F8AB5}"/>
                </a:ext>
              </a:extLst>
            </p:cNvPr>
            <p:cNvSpPr/>
            <p:nvPr/>
          </p:nvSpPr>
          <p:spPr>
            <a:xfrm>
              <a:off x="1325162" y="539776"/>
              <a:ext cx="1990256" cy="210890"/>
            </a:xfrm>
            <a:prstGeom prst="cloudCallout">
              <a:avLst/>
            </a:prstGeom>
            <a:ln w="12700">
              <a:solidFill>
                <a:srgbClr val="999999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Atmospheric 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" name="Callout: Up Arrow 6">
              <a:extLst>
                <a:ext uri="{FF2B5EF4-FFF2-40B4-BE49-F238E27FC236}">
                  <a16:creationId xmlns:a16="http://schemas.microsoft.com/office/drawing/2014/main" id="{491531C2-102D-A971-4B37-5FCA7076F241}"/>
                </a:ext>
              </a:extLst>
            </p:cNvPr>
            <p:cNvSpPr/>
            <p:nvPr/>
          </p:nvSpPr>
          <p:spPr>
            <a:xfrm>
              <a:off x="1116994" y="734751"/>
              <a:ext cx="2406593" cy="206808"/>
            </a:xfrm>
            <a:prstGeom prst="upArrowCallout">
              <a:avLst/>
            </a:prstGeom>
            <a:solidFill>
              <a:srgbClr val="999999"/>
            </a:solidFill>
            <a:ln>
              <a:solidFill>
                <a:srgbClr val="9999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Carbon-based fuels (natural gas, coal, and biomass)</a:t>
              </a:r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365E0AD2-D986-9E6E-B09A-D0E82BFBC388}"/>
                </a:ext>
              </a:extLst>
            </p:cNvPr>
            <p:cNvSpPr/>
            <p:nvPr/>
          </p:nvSpPr>
          <p:spPr>
            <a:xfrm>
              <a:off x="3099151" y="1651754"/>
              <a:ext cx="633326" cy="461750"/>
            </a:xfrm>
            <a:prstGeom prst="flowChartMagneticDisk">
              <a:avLst/>
            </a:prstGeom>
            <a:solidFill>
              <a:srgbClr val="E7DAD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Carbon capture facility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B7C5C9-EE25-3CB4-8387-F08387A0AE11}"/>
                </a:ext>
              </a:extLst>
            </p:cNvPr>
            <p:cNvSpPr txBox="1"/>
            <p:nvPr/>
          </p:nvSpPr>
          <p:spPr>
            <a:xfrm>
              <a:off x="2361209" y="1724261"/>
              <a:ext cx="171509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" name="Cylinder 1">
              <a:extLst>
                <a:ext uri="{FF2B5EF4-FFF2-40B4-BE49-F238E27FC236}">
                  <a16:creationId xmlns:a16="http://schemas.microsoft.com/office/drawing/2014/main" id="{5DCC2F7A-4A59-3221-08EA-33F74D14D40B}"/>
                </a:ext>
              </a:extLst>
            </p:cNvPr>
            <p:cNvSpPr/>
            <p:nvPr/>
          </p:nvSpPr>
          <p:spPr>
            <a:xfrm>
              <a:off x="798052" y="1026375"/>
              <a:ext cx="569299" cy="525057"/>
            </a:xfrm>
            <a:prstGeom prst="can">
              <a:avLst/>
            </a:prstGeom>
            <a:solidFill>
              <a:srgbClr val="82B0D2"/>
            </a:solidFill>
            <a:ln w="19050">
              <a:solidFill>
                <a:srgbClr val="E7DA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Electricity generation</a:t>
              </a:r>
            </a:p>
          </p:txBody>
        </p:sp>
        <p:sp>
          <p:nvSpPr>
            <p:cNvPr id="3" name="Cylinder 2">
              <a:extLst>
                <a:ext uri="{FF2B5EF4-FFF2-40B4-BE49-F238E27FC236}">
                  <a16:creationId xmlns:a16="http://schemas.microsoft.com/office/drawing/2014/main" id="{5FDF0275-FEC5-1801-668E-23289CFAA012}"/>
                </a:ext>
              </a:extLst>
            </p:cNvPr>
            <p:cNvSpPr/>
            <p:nvPr/>
          </p:nvSpPr>
          <p:spPr>
            <a:xfrm>
              <a:off x="1400764" y="1026375"/>
              <a:ext cx="569299" cy="525057"/>
            </a:xfrm>
            <a:prstGeom prst="can">
              <a:avLst/>
            </a:prstGeom>
            <a:solidFill>
              <a:srgbClr val="82B0D2"/>
            </a:solidFill>
            <a:ln w="19050">
              <a:solidFill>
                <a:srgbClr val="E7DA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Ethanol plant</a:t>
              </a:r>
            </a:p>
          </p:txBody>
        </p:sp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8AEDB981-054E-0763-BE5D-E09C9C326091}"/>
                </a:ext>
              </a:extLst>
            </p:cNvPr>
            <p:cNvSpPr/>
            <p:nvPr/>
          </p:nvSpPr>
          <p:spPr>
            <a:xfrm>
              <a:off x="2003476" y="1026375"/>
              <a:ext cx="569299" cy="525057"/>
            </a:xfrm>
            <a:prstGeom prst="can">
              <a:avLst/>
            </a:prstGeom>
            <a:solidFill>
              <a:srgbClr val="82B0D2"/>
            </a:solidFill>
            <a:ln w="19050">
              <a:solidFill>
                <a:srgbClr val="E7DA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Refinery/ chemicals</a:t>
              </a: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E16F015E-C7BB-6014-6AF4-6C2BB3BBC01E}"/>
                </a:ext>
              </a:extLst>
            </p:cNvPr>
            <p:cNvSpPr/>
            <p:nvPr/>
          </p:nvSpPr>
          <p:spPr>
            <a:xfrm>
              <a:off x="2606188" y="1026375"/>
              <a:ext cx="569299" cy="525057"/>
            </a:xfrm>
            <a:prstGeom prst="can">
              <a:avLst/>
            </a:prstGeom>
            <a:solidFill>
              <a:srgbClr val="82B0D2"/>
            </a:solidFill>
            <a:ln w="19050">
              <a:solidFill>
                <a:srgbClr val="E7DA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Natural gas processing</a:t>
              </a:r>
            </a:p>
          </p:txBody>
        </p:sp>
        <p:sp>
          <p:nvSpPr>
            <p:cNvPr id="17" name="Cylinder 16">
              <a:extLst>
                <a:ext uri="{FF2B5EF4-FFF2-40B4-BE49-F238E27FC236}">
                  <a16:creationId xmlns:a16="http://schemas.microsoft.com/office/drawing/2014/main" id="{6880E6AF-157C-3FCE-0C12-2899DAE3488E}"/>
                </a:ext>
              </a:extLst>
            </p:cNvPr>
            <p:cNvSpPr/>
            <p:nvPr/>
          </p:nvSpPr>
          <p:spPr>
            <a:xfrm>
              <a:off x="3208898" y="1026375"/>
              <a:ext cx="569299" cy="525057"/>
            </a:xfrm>
            <a:prstGeom prst="can">
              <a:avLst/>
            </a:prstGeom>
            <a:solidFill>
              <a:srgbClr val="82B0D2"/>
            </a:solidFill>
            <a:ln w="19050">
              <a:solidFill>
                <a:srgbClr val="E7DA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Cement/</a:t>
              </a:r>
            </a:p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steel plant</a:t>
              </a:r>
            </a:p>
          </p:txBody>
        </p:sp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E1FEBC6C-256D-5BAE-0A27-0784F81537D0}"/>
                </a:ext>
              </a:extLst>
            </p:cNvPr>
            <p:cNvSpPr/>
            <p:nvPr/>
          </p:nvSpPr>
          <p:spPr>
            <a:xfrm>
              <a:off x="807651" y="1985206"/>
              <a:ext cx="633326" cy="412986"/>
            </a:xfrm>
            <a:prstGeom prst="can">
              <a:avLst/>
            </a:prstGeom>
            <a:solidFill>
              <a:srgbClr val="8ECFC9"/>
            </a:solidFill>
            <a:ln w="19050">
              <a:solidFill>
                <a:srgbClr val="9999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Industrial &amp; other uses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BCE0E-AB71-12A3-7748-E1D11B901128}"/>
                </a:ext>
              </a:extLst>
            </p:cNvPr>
            <p:cNvSpPr txBox="1"/>
            <p:nvPr/>
          </p:nvSpPr>
          <p:spPr>
            <a:xfrm>
              <a:off x="1978786" y="2004397"/>
              <a:ext cx="171509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AC4B5901-9D46-78B9-C010-2B9259819DEA}"/>
                </a:ext>
              </a:extLst>
            </p:cNvPr>
            <p:cNvCxnSpPr>
              <a:cxnSpLocks/>
              <a:stCxn id="4" idx="2"/>
              <a:endCxn id="13" idx="2"/>
            </p:cNvCxnSpPr>
            <p:nvPr/>
          </p:nvCxnSpPr>
          <p:spPr>
            <a:xfrm rot="16200000" flipH="1">
              <a:off x="2570966" y="1354443"/>
              <a:ext cx="247029" cy="809341"/>
            </a:xfrm>
            <a:prstGeom prst="bentConnector2">
              <a:avLst/>
            </a:prstGeom>
            <a:ln w="38100">
              <a:solidFill>
                <a:srgbClr val="9999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B7FD4659-4D06-6DB8-F47D-9CD4E70BBC88}"/>
                </a:ext>
              </a:extLst>
            </p:cNvPr>
            <p:cNvCxnSpPr>
              <a:cxnSpLocks/>
              <a:stCxn id="13" idx="3"/>
              <a:endCxn id="8" idx="4"/>
            </p:cNvCxnSpPr>
            <p:nvPr/>
          </p:nvCxnSpPr>
          <p:spPr>
            <a:xfrm rot="5400000">
              <a:off x="2389299" y="1165183"/>
              <a:ext cx="78195" cy="1974837"/>
            </a:xfrm>
            <a:prstGeom prst="bentConnector2">
              <a:avLst/>
            </a:prstGeom>
            <a:ln w="38100">
              <a:solidFill>
                <a:srgbClr val="9999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B71CC6C-B85F-080E-56B4-1D0E20DD7145}"/>
                </a:ext>
              </a:extLst>
            </p:cNvPr>
            <p:cNvSpPr txBox="1"/>
            <p:nvPr/>
          </p:nvSpPr>
          <p:spPr>
            <a:xfrm>
              <a:off x="3369407" y="2098644"/>
              <a:ext cx="171509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AB9055-C29F-7718-10F8-FBC52F839374}"/>
                </a:ext>
              </a:extLst>
            </p:cNvPr>
            <p:cNvSpPr txBox="1"/>
            <p:nvPr/>
          </p:nvSpPr>
          <p:spPr>
            <a:xfrm>
              <a:off x="717701" y="2543148"/>
              <a:ext cx="419192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Geologic storage</a:t>
              </a: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A6011E5-2EBE-6486-B72A-1B18ADFC769A}"/>
                </a:ext>
              </a:extLst>
            </p:cNvPr>
            <p:cNvSpPr/>
            <p:nvPr/>
          </p:nvSpPr>
          <p:spPr>
            <a:xfrm>
              <a:off x="769566" y="2658175"/>
              <a:ext cx="2996662" cy="820703"/>
            </a:xfrm>
            <a:custGeom>
              <a:avLst/>
              <a:gdLst>
                <a:gd name="connsiteX0" fmla="*/ 0 w 12230100"/>
                <a:gd name="connsiteY0" fmla="*/ 104775 h 2038350"/>
                <a:gd name="connsiteX1" fmla="*/ 9525 w 12230100"/>
                <a:gd name="connsiteY1" fmla="*/ 2038350 h 2038350"/>
                <a:gd name="connsiteX2" fmla="*/ 12230100 w 12230100"/>
                <a:gd name="connsiteY2" fmla="*/ 2028825 h 2038350"/>
                <a:gd name="connsiteX3" fmla="*/ 12220575 w 12230100"/>
                <a:gd name="connsiteY3" fmla="*/ 66675 h 2038350"/>
                <a:gd name="connsiteX4" fmla="*/ 7372350 w 12230100"/>
                <a:gd name="connsiteY4" fmla="*/ 0 h 2038350"/>
                <a:gd name="connsiteX5" fmla="*/ 2209800 w 12230100"/>
                <a:gd name="connsiteY5" fmla="*/ 295275 h 2038350"/>
                <a:gd name="connsiteX6" fmla="*/ 0 w 12230100"/>
                <a:gd name="connsiteY6" fmla="*/ 104775 h 203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100" h="2038350">
                  <a:moveTo>
                    <a:pt x="0" y="104775"/>
                  </a:moveTo>
                  <a:lnTo>
                    <a:pt x="9525" y="2038350"/>
                  </a:lnTo>
                  <a:lnTo>
                    <a:pt x="12230100" y="2028825"/>
                  </a:lnTo>
                  <a:lnTo>
                    <a:pt x="12220575" y="66675"/>
                  </a:lnTo>
                  <a:lnTo>
                    <a:pt x="7372350" y="0"/>
                  </a:lnTo>
                  <a:lnTo>
                    <a:pt x="2209800" y="2952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96ACE9A-8E9B-D604-57C2-7BF6C1D54153}"/>
                </a:ext>
              </a:extLst>
            </p:cNvPr>
            <p:cNvCxnSpPr>
              <a:cxnSpLocks/>
            </p:cNvCxnSpPr>
            <p:nvPr/>
          </p:nvCxnSpPr>
          <p:spPr>
            <a:xfrm>
              <a:off x="3209616" y="2089711"/>
              <a:ext cx="0" cy="697947"/>
            </a:xfrm>
            <a:prstGeom prst="straightConnector1">
              <a:avLst/>
            </a:prstGeom>
            <a:ln w="38100">
              <a:solidFill>
                <a:srgbClr val="9999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6BD926-6D7B-2701-53DA-5C787C845ADE}"/>
                </a:ext>
              </a:extLst>
            </p:cNvPr>
            <p:cNvSpPr/>
            <p:nvPr/>
          </p:nvSpPr>
          <p:spPr>
            <a:xfrm>
              <a:off x="769619" y="2842259"/>
              <a:ext cx="2998995" cy="636620"/>
            </a:xfrm>
            <a:custGeom>
              <a:avLst/>
              <a:gdLst>
                <a:gd name="connsiteX0" fmla="*/ 0 w 12239625"/>
                <a:gd name="connsiteY0" fmla="*/ 295275 h 1581150"/>
                <a:gd name="connsiteX1" fmla="*/ 0 w 12239625"/>
                <a:gd name="connsiteY1" fmla="*/ 1571625 h 1581150"/>
                <a:gd name="connsiteX2" fmla="*/ 12239625 w 12239625"/>
                <a:gd name="connsiteY2" fmla="*/ 1581150 h 1581150"/>
                <a:gd name="connsiteX3" fmla="*/ 12220575 w 12239625"/>
                <a:gd name="connsiteY3" fmla="*/ 0 h 1581150"/>
                <a:gd name="connsiteX4" fmla="*/ 9572625 w 12239625"/>
                <a:gd name="connsiteY4" fmla="*/ 133350 h 1581150"/>
                <a:gd name="connsiteX5" fmla="*/ 6819900 w 12239625"/>
                <a:gd name="connsiteY5" fmla="*/ 76200 h 1581150"/>
                <a:gd name="connsiteX6" fmla="*/ 4286250 w 12239625"/>
                <a:gd name="connsiteY6" fmla="*/ 457200 h 1581150"/>
                <a:gd name="connsiteX7" fmla="*/ 0 w 12239625"/>
                <a:gd name="connsiteY7" fmla="*/ 295275 h 15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39625" h="1581150">
                  <a:moveTo>
                    <a:pt x="0" y="295275"/>
                  </a:moveTo>
                  <a:lnTo>
                    <a:pt x="0" y="1571625"/>
                  </a:lnTo>
                  <a:lnTo>
                    <a:pt x="12239625" y="1581150"/>
                  </a:lnTo>
                  <a:lnTo>
                    <a:pt x="12220575" y="0"/>
                  </a:lnTo>
                  <a:lnTo>
                    <a:pt x="9572625" y="133350"/>
                  </a:lnTo>
                  <a:lnTo>
                    <a:pt x="6819900" y="76200"/>
                  </a:lnTo>
                  <a:lnTo>
                    <a:pt x="4286250" y="457200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73B5AB3-DAD0-2B32-6998-67E59972AAD3}"/>
                </a:ext>
              </a:extLst>
            </p:cNvPr>
            <p:cNvSpPr txBox="1"/>
            <p:nvPr/>
          </p:nvSpPr>
          <p:spPr>
            <a:xfrm>
              <a:off x="717701" y="2737897"/>
              <a:ext cx="911442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 stored in non-conventional formations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E244F2E-20DA-1687-8D0A-9CEFEB7321A5}"/>
                </a:ext>
              </a:extLst>
            </p:cNvPr>
            <p:cNvSpPr txBox="1"/>
            <p:nvPr/>
          </p:nvSpPr>
          <p:spPr>
            <a:xfrm>
              <a:off x="717701" y="2997427"/>
              <a:ext cx="872497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 stored in depleted oil/gas reservoirs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D0A8548-E440-EC16-4D74-3825157245F3}"/>
                </a:ext>
              </a:extLst>
            </p:cNvPr>
            <p:cNvSpPr/>
            <p:nvPr/>
          </p:nvSpPr>
          <p:spPr>
            <a:xfrm>
              <a:off x="761866" y="3089288"/>
              <a:ext cx="3007213" cy="616987"/>
            </a:xfrm>
            <a:custGeom>
              <a:avLst/>
              <a:gdLst>
                <a:gd name="connsiteX0" fmla="*/ 11574 w 10926501"/>
                <a:gd name="connsiteY0" fmla="*/ 439838 h 1979270"/>
                <a:gd name="connsiteX1" fmla="*/ 0 w 10926501"/>
                <a:gd name="connsiteY1" fmla="*/ 1979270 h 1979270"/>
                <a:gd name="connsiteX2" fmla="*/ 10926501 w 10926501"/>
                <a:gd name="connsiteY2" fmla="*/ 1979270 h 1979270"/>
                <a:gd name="connsiteX3" fmla="*/ 10903351 w 10926501"/>
                <a:gd name="connsiteY3" fmla="*/ 127321 h 1979270"/>
                <a:gd name="connsiteX4" fmla="*/ 7442521 w 10926501"/>
                <a:gd name="connsiteY4" fmla="*/ 0 h 1979270"/>
                <a:gd name="connsiteX5" fmla="*/ 2974693 w 10926501"/>
                <a:gd name="connsiteY5" fmla="*/ 497711 h 1979270"/>
                <a:gd name="connsiteX6" fmla="*/ 23149 w 10926501"/>
                <a:gd name="connsiteY6" fmla="*/ 324091 h 1979270"/>
                <a:gd name="connsiteX7" fmla="*/ 23149 w 10926501"/>
                <a:gd name="connsiteY7" fmla="*/ 497711 h 1979270"/>
                <a:gd name="connsiteX8" fmla="*/ 11574 w 10926501"/>
                <a:gd name="connsiteY8" fmla="*/ 439838 h 1979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26501" h="1979270">
                  <a:moveTo>
                    <a:pt x="11574" y="439838"/>
                  </a:moveTo>
                  <a:lnTo>
                    <a:pt x="0" y="1979270"/>
                  </a:lnTo>
                  <a:lnTo>
                    <a:pt x="10926501" y="1979270"/>
                  </a:lnTo>
                  <a:lnTo>
                    <a:pt x="10903351" y="127321"/>
                  </a:lnTo>
                  <a:lnTo>
                    <a:pt x="7442521" y="0"/>
                  </a:lnTo>
                  <a:lnTo>
                    <a:pt x="2974693" y="497711"/>
                  </a:lnTo>
                  <a:lnTo>
                    <a:pt x="23149" y="324091"/>
                  </a:lnTo>
                  <a:lnTo>
                    <a:pt x="23149" y="497711"/>
                  </a:lnTo>
                  <a:lnTo>
                    <a:pt x="11574" y="43983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7C6C334-6BC3-E615-500C-F533772FBDB5}"/>
                </a:ext>
              </a:extLst>
            </p:cNvPr>
            <p:cNvSpPr txBox="1"/>
            <p:nvPr/>
          </p:nvSpPr>
          <p:spPr>
            <a:xfrm>
              <a:off x="717701" y="3196360"/>
              <a:ext cx="1304774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 stored while displacing trapped oil (enhanced oil recovery)</a:t>
              </a: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48C82B1-ABBD-1F2C-742A-F1B81C3069AF}"/>
                </a:ext>
              </a:extLst>
            </p:cNvPr>
            <p:cNvSpPr/>
            <p:nvPr/>
          </p:nvSpPr>
          <p:spPr>
            <a:xfrm>
              <a:off x="761937" y="3325223"/>
              <a:ext cx="3010400" cy="381052"/>
            </a:xfrm>
            <a:custGeom>
              <a:avLst/>
              <a:gdLst>
                <a:gd name="connsiteX0" fmla="*/ 0 w 10938076"/>
                <a:gd name="connsiteY0" fmla="*/ 509286 h 1458410"/>
                <a:gd name="connsiteX1" fmla="*/ 0 w 10938076"/>
                <a:gd name="connsiteY1" fmla="*/ 1458410 h 1458410"/>
                <a:gd name="connsiteX2" fmla="*/ 10938076 w 10938076"/>
                <a:gd name="connsiteY2" fmla="*/ 1446836 h 1458410"/>
                <a:gd name="connsiteX3" fmla="*/ 10926501 w 10938076"/>
                <a:gd name="connsiteY3" fmla="*/ 0 h 1458410"/>
                <a:gd name="connsiteX4" fmla="*/ 6562845 w 10938076"/>
                <a:gd name="connsiteY4" fmla="*/ 115747 h 1458410"/>
                <a:gd name="connsiteX5" fmla="*/ 4953964 w 10938076"/>
                <a:gd name="connsiteY5" fmla="*/ 555585 h 1458410"/>
                <a:gd name="connsiteX6" fmla="*/ 1724627 w 10938076"/>
                <a:gd name="connsiteY6" fmla="*/ 474562 h 1458410"/>
                <a:gd name="connsiteX7" fmla="*/ 0 w 10938076"/>
                <a:gd name="connsiteY7" fmla="*/ 509286 h 145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38076" h="1458410">
                  <a:moveTo>
                    <a:pt x="0" y="509286"/>
                  </a:moveTo>
                  <a:lnTo>
                    <a:pt x="0" y="1458410"/>
                  </a:lnTo>
                  <a:lnTo>
                    <a:pt x="10938076" y="1446836"/>
                  </a:lnTo>
                  <a:cubicBezTo>
                    <a:pt x="10934218" y="964557"/>
                    <a:pt x="10930359" y="482279"/>
                    <a:pt x="10926501" y="0"/>
                  </a:cubicBezTo>
                  <a:lnTo>
                    <a:pt x="6562845" y="115747"/>
                  </a:lnTo>
                  <a:lnTo>
                    <a:pt x="4953964" y="555585"/>
                  </a:lnTo>
                  <a:lnTo>
                    <a:pt x="1724627" y="474562"/>
                  </a:lnTo>
                  <a:lnTo>
                    <a:pt x="0" y="509286"/>
                  </a:lnTo>
                  <a:close/>
                </a:path>
              </a:pathLst>
            </a:custGeom>
            <a:solidFill>
              <a:srgbClr val="9966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942942F-3470-D756-6D44-6F7D32A1DF4A}"/>
                </a:ext>
              </a:extLst>
            </p:cNvPr>
            <p:cNvSpPr txBox="1"/>
            <p:nvPr/>
          </p:nvSpPr>
          <p:spPr>
            <a:xfrm>
              <a:off x="717701" y="3497891"/>
              <a:ext cx="693356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n-US" sz="7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 stored in saline formations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058417C-8E80-7916-9B9C-2FE61A9818E5}"/>
                </a:ext>
              </a:extLst>
            </p:cNvPr>
            <p:cNvCxnSpPr>
              <a:cxnSpLocks/>
            </p:cNvCxnSpPr>
            <p:nvPr/>
          </p:nvCxnSpPr>
          <p:spPr>
            <a:xfrm>
              <a:off x="3638653" y="2089711"/>
              <a:ext cx="0" cy="1376080"/>
            </a:xfrm>
            <a:prstGeom prst="straightConnector1">
              <a:avLst/>
            </a:prstGeom>
            <a:ln w="38100">
              <a:solidFill>
                <a:srgbClr val="9999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F311FB6-2BD1-72D1-276D-0B93AC41E373}"/>
                </a:ext>
              </a:extLst>
            </p:cNvPr>
            <p:cNvCxnSpPr>
              <a:cxnSpLocks/>
            </p:cNvCxnSpPr>
            <p:nvPr/>
          </p:nvCxnSpPr>
          <p:spPr>
            <a:xfrm>
              <a:off x="2234867" y="2622277"/>
              <a:ext cx="0" cy="1007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D8068FE-022A-0265-26DD-285864993271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99" y="2730627"/>
              <a:ext cx="647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DEE9FD7-ECF0-B827-6343-6E4481D61CF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232896" y="2300142"/>
              <a:ext cx="0" cy="1007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34D57FF-8BCF-D6CA-DB8A-B6280FE6CA73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99" y="2299556"/>
              <a:ext cx="647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96A6DCB-8575-DC0A-C281-AA2F95CC2631}"/>
                </a:ext>
              </a:extLst>
            </p:cNvPr>
            <p:cNvSpPr txBox="1"/>
            <p:nvPr/>
          </p:nvSpPr>
          <p:spPr>
            <a:xfrm>
              <a:off x="2089776" y="2427300"/>
              <a:ext cx="451125" cy="853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Depth &gt; 3,000 feet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7790069-987F-4AA3-01F9-2D8B2BA05587}"/>
                </a:ext>
              </a:extLst>
            </p:cNvPr>
            <p:cNvCxnSpPr>
              <a:cxnSpLocks/>
            </p:cNvCxnSpPr>
            <p:nvPr/>
          </p:nvCxnSpPr>
          <p:spPr>
            <a:xfrm>
              <a:off x="3415815" y="2144312"/>
              <a:ext cx="0" cy="853115"/>
            </a:xfrm>
            <a:prstGeom prst="straightConnector1">
              <a:avLst/>
            </a:prstGeom>
            <a:ln w="38100">
              <a:solidFill>
                <a:srgbClr val="9999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C3CC6F93-2710-C4F4-9613-FBD5395B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 source; made by author</a:t>
            </a:r>
          </a:p>
        </p:txBody>
      </p:sp>
    </p:spTree>
    <p:extLst>
      <p:ext uri="{BB962C8B-B14F-4D97-AF65-F5344CB8AC3E}">
        <p14:creationId xmlns:p14="http://schemas.microsoft.com/office/powerpoint/2010/main" val="101078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4159</TotalTime>
  <Words>79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Figure 1 source; made by author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Kaifang Luo</dc:creator>
  <cp:lastModifiedBy>Kaifang Luo</cp:lastModifiedBy>
  <cp:revision>25</cp:revision>
  <dcterms:created xsi:type="dcterms:W3CDTF">2023-09-23T18:07:24Z</dcterms:created>
  <dcterms:modified xsi:type="dcterms:W3CDTF">2026-08-28T22:38:53Z</dcterms:modified>
</cp:coreProperties>
</file>